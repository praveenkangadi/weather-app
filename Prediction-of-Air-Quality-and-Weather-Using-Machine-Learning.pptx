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mbria Math" pitchFamily="18" charset="0"/>
      <p:regular r:id="rId14"/>
    </p:embeddedFont>
    <p:embeddedFont>
      <p:font typeface="Calibri Light" pitchFamily="34" charset="0"/>
      <p:regular r:id="rId15"/>
      <p:italic r:id="rId16"/>
    </p:embeddedFont>
    <p:embeddedFont>
      <p:font typeface="Libre Baskerville" charset="0"/>
      <p:regular r:id="rId17"/>
      <p:bold r:id="rId18"/>
      <p:italic r:id="rId19"/>
    </p:embeddedFon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Crimson Pro Semi Bold" charset="0"/>
      <p:regular r:id="rId24"/>
    </p:embeddedFont>
    <p:embeddedFont>
      <p:font typeface="Heebo" charset="-79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132" y="-10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AFF681A-9684-3E7F-14A1-D132D5D40EA9}"/>
              </a:ext>
            </a:extLst>
          </p:cNvPr>
          <p:cNvSpPr/>
          <p:nvPr/>
        </p:nvSpPr>
        <p:spPr bwMode="auto">
          <a:xfrm>
            <a:off x="0" y="0"/>
            <a:ext cx="14630400" cy="141577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|| Jai Sri </a:t>
            </a:r>
            <a:r>
              <a:rPr lang="en-IN" sz="14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Gurudev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||</a:t>
            </a:r>
          </a:p>
          <a:p>
            <a:pPr algn="ctr">
              <a:defRPr/>
            </a:pPr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Sri Adichunchanagiri </a:t>
            </a:r>
            <a:r>
              <a:rPr lang="en-IN" sz="14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Shikshana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Trust ® </a:t>
            </a:r>
          </a:p>
          <a:p>
            <a:pPr algn="ctr">
              <a:defRPr/>
            </a:pPr>
            <a:r>
              <a:rPr lang="en-IN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ADICHUNCHANAGIRI INSTITUTE OF TECHNOLOGY </a:t>
            </a:r>
          </a:p>
          <a:p>
            <a:pPr algn="ctr">
              <a:defRPr/>
            </a:pPr>
            <a:r>
              <a:rPr lang="en-IN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(An ISO 9001 : 2008 Certified) </a:t>
            </a:r>
          </a:p>
          <a:p>
            <a:pPr algn="ctr">
              <a:defRPr/>
            </a:pPr>
            <a:r>
              <a:rPr lang="en-IN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Affiliated to Visvesvaraya Technological University (VTU), </a:t>
            </a:r>
            <a:r>
              <a:rPr lang="en-IN" sz="12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Belagavi</a:t>
            </a:r>
            <a:r>
              <a:rPr lang="en-IN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,</a:t>
            </a:r>
          </a:p>
          <a:p>
            <a:pPr algn="ctr">
              <a:defRPr/>
            </a:pPr>
            <a:r>
              <a:rPr lang="en-IN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Approved by AICTE, New Delhi ,  </a:t>
            </a:r>
            <a:r>
              <a:rPr lang="en-IN" sz="16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Jyothinagar</a:t>
            </a:r>
            <a:r>
              <a:rPr lang="en-IN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, Chikkamagaluru – 577 102.</a:t>
            </a:r>
            <a:endParaRPr lang="en-IN" sz="1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825D6FF9-8E74-A4E2-BA1C-8AA30F1C7133}"/>
              </a:ext>
            </a:extLst>
          </p:cNvPr>
          <p:cNvSpPr/>
          <p:nvPr/>
        </p:nvSpPr>
        <p:spPr>
          <a:xfrm>
            <a:off x="318737" y="95535"/>
            <a:ext cx="1579253" cy="1224702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11" name="Picture 10" descr="His Divine soul Padmabhushan Sri Sri Sri Dr ...">
            <a:extLst>
              <a:ext uri="{FF2B5EF4-FFF2-40B4-BE49-F238E27FC236}">
                <a16:creationId xmlns="" xmlns:a16="http://schemas.microsoft.com/office/drawing/2014/main" id="{22E0795C-69B1-531D-6E17-8568882D8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94627" y="68767"/>
            <a:ext cx="1219200" cy="1295400"/>
          </a:xfrm>
          <a:prstGeom prst="rect">
            <a:avLst/>
          </a:prstGeom>
          <a:noFill/>
        </p:spPr>
      </p:pic>
      <p:pic>
        <p:nvPicPr>
          <p:cNvPr id="12" name="Picture 11" descr="Message from Sri Sri Sri Nirmalanandanatha Mahaswamiji – SJB ...">
            <a:extLst>
              <a:ext uri="{FF2B5EF4-FFF2-40B4-BE49-F238E27FC236}">
                <a16:creationId xmlns="" xmlns:a16="http://schemas.microsoft.com/office/drawing/2014/main" id="{A768530F-04BB-D79C-453B-D887F57AB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92719" y="68767"/>
            <a:ext cx="1238250" cy="1295400"/>
          </a:xfrm>
          <a:prstGeom prst="rect">
            <a:avLst/>
          </a:prstGeom>
          <a:noFill/>
        </p:spPr>
      </p:pic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2423" y="39782"/>
            <a:ext cx="1465194" cy="1356341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B208CBB-AFE0-4FB6-18C1-28C9F18DEAF9}"/>
              </a:ext>
            </a:extLst>
          </p:cNvPr>
          <p:cNvSpPr txBox="1"/>
          <p:nvPr/>
        </p:nvSpPr>
        <p:spPr>
          <a:xfrm>
            <a:off x="4703055" y="1788459"/>
            <a:ext cx="5005337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lang="en-IN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lang="en-IN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897990" y="3647563"/>
            <a:ext cx="10305368" cy="2130144"/>
          </a:xfrm>
          <a:solidFill>
            <a:schemeClr val="bg1"/>
          </a:solidFill>
        </p:spPr>
        <p:txBody>
          <a:bodyPr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0000"/>
              </a:highligh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050390" y="3429000"/>
            <a:ext cx="10305368" cy="2130144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fontScale="7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Prediction of Air Quality and Weather Using Machine Learning</a:t>
            </a:r>
            <a:r>
              <a:rPr kumimoji="0" 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00"/>
                </a:highligh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0000"/>
              </a:highligh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8505FDAE-3885-04C2-AAD6-AE311BC55FF3}"/>
              </a:ext>
            </a:extLst>
          </p:cNvPr>
          <p:cNvSpPr txBox="1"/>
          <p:nvPr/>
        </p:nvSpPr>
        <p:spPr>
          <a:xfrm>
            <a:off x="318737" y="5340359"/>
            <a:ext cx="749923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the Guidance of:</a:t>
            </a:r>
          </a:p>
          <a:p>
            <a:r>
              <a:rPr lang="en-GB" sz="2400" b="1" dirty="0">
                <a:solidFill>
                  <a:schemeClr val="tx2"/>
                </a:solidFill>
              </a:rPr>
              <a:t>Mr. </a:t>
            </a:r>
            <a:r>
              <a:rPr lang="en-GB" sz="2400" b="1" dirty="0" err="1">
                <a:solidFill>
                  <a:schemeClr val="tx2"/>
                </a:solidFill>
              </a:rPr>
              <a:t>Purushothama</a:t>
            </a:r>
            <a:r>
              <a:rPr lang="en-GB" sz="2400" b="1" dirty="0">
                <a:solidFill>
                  <a:schemeClr val="tx2"/>
                </a:solidFill>
              </a:rPr>
              <a:t> B N </a:t>
            </a:r>
            <a:r>
              <a:rPr lang="en-GB" b="1" dirty="0">
                <a:solidFill>
                  <a:schemeClr val="tx2"/>
                </a:solidFill>
              </a:rPr>
              <a:t>B.E., </a:t>
            </a:r>
            <a:r>
              <a:rPr lang="en-GB" b="1" dirty="0" err="1">
                <a:solidFill>
                  <a:schemeClr val="tx2"/>
                </a:solidFill>
              </a:rPr>
              <a:t>M.Tech</a:t>
            </a:r>
            <a:r>
              <a:rPr lang="en-GB" sz="2400" dirty="0">
                <a:solidFill>
                  <a:schemeClr val="tx2"/>
                </a:solidFill>
              </a:rPr>
              <a:t>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Assistant professor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Dept. Of AI&amp;ML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AIT, </a:t>
            </a:r>
            <a:r>
              <a:rPr lang="en-IN" sz="2400" b="1" dirty="0" err="1">
                <a:solidFill>
                  <a:schemeClr val="tx2"/>
                </a:solidFill>
              </a:rPr>
              <a:t>Chikkamagalur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0" name="Subtitle 2"/>
          <p:cNvSpPr txBox="1">
            <a:spLocks/>
          </p:cNvSpPr>
          <p:nvPr/>
        </p:nvSpPr>
        <p:spPr>
          <a:xfrm>
            <a:off x="9375882" y="5340359"/>
            <a:ext cx="3224929" cy="977312"/>
          </a:xfr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Presented by: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84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75882" y="6073086"/>
            <a:ext cx="49235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IN" sz="2400" b="1" dirty="0" err="1">
                <a:solidFill>
                  <a:schemeClr val="tx2"/>
                </a:solidFill>
              </a:rPr>
              <a:t>Ajeya</a:t>
            </a:r>
            <a:r>
              <a:rPr lang="en-IN" sz="2400" b="1" dirty="0">
                <a:solidFill>
                  <a:schemeClr val="tx2"/>
                </a:solidFill>
              </a:rPr>
              <a:t> Surya : (4AI21AIOO4)</a:t>
            </a:r>
          </a:p>
          <a:p>
            <a:pPr marL="342900" indent="-342900">
              <a:buAutoNum type="arabicParenR"/>
            </a:pPr>
            <a:r>
              <a:rPr lang="en-IN" sz="2400" b="1" dirty="0">
                <a:solidFill>
                  <a:schemeClr val="tx2"/>
                </a:solidFill>
              </a:rPr>
              <a:t>K V Nagaraj : (4AI21AI025)</a:t>
            </a:r>
          </a:p>
          <a:p>
            <a:pPr marL="342900" indent="-342900">
              <a:buAutoNum type="arabicParenR"/>
            </a:pPr>
            <a:r>
              <a:rPr lang="en-IN" sz="2400" b="1" dirty="0">
                <a:solidFill>
                  <a:schemeClr val="tx2"/>
                </a:solidFill>
              </a:rPr>
              <a:t>Praveen Kumar : (4AI21AI040)</a:t>
            </a:r>
          </a:p>
          <a:p>
            <a:pPr marL="342900" indent="-342900">
              <a:buAutoNum type="arabicParenR"/>
            </a:pPr>
            <a:r>
              <a:rPr lang="en-IN" sz="2400" b="1" dirty="0">
                <a:solidFill>
                  <a:schemeClr val="tx2"/>
                </a:solidFill>
              </a:rPr>
              <a:t>Sujan P : (4AI21AI053)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2474952"/>
            <a:ext cx="4919305" cy="327957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9707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Abstract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201965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research investigates the application of machine learning algorithms to predict air quality and weather patterns. The goal is to develop a system that can accurately forecast these factors for a given location.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6280190" y="361866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3"/>
          <p:cNvSpPr/>
          <p:nvPr/>
        </p:nvSpPr>
        <p:spPr>
          <a:xfrm>
            <a:off x="6474500" y="3703677"/>
            <a:ext cx="12168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7017306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Objectives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017306" y="410908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an accurate and reliable model for predicting air quality and weather patterns.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171867" y="361866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7"/>
          <p:cNvSpPr/>
          <p:nvPr/>
        </p:nvSpPr>
        <p:spPr>
          <a:xfrm>
            <a:off x="10342602" y="3703677"/>
            <a:ext cx="1688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10908983" y="3618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908983" y="410908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Utilize machine learning techniques to analyze historical environmental data and generate predictions.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280190" y="604266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1"/>
          <p:cNvSpPr/>
          <p:nvPr/>
        </p:nvSpPr>
        <p:spPr>
          <a:xfrm>
            <a:off x="6453426" y="6127671"/>
            <a:ext cx="16383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2"/>
          <p:cNvSpPr/>
          <p:nvPr/>
        </p:nvSpPr>
        <p:spPr>
          <a:xfrm>
            <a:off x="7017306" y="6042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Impact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017306" y="653307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model can be used to enhance public health, environmental management, and urban planning.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5486400" y="7642746"/>
            <a:ext cx="91440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0444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178" y="220385"/>
            <a:ext cx="2260044" cy="17636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7220" y="2689384"/>
            <a:ext cx="4408884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Introduction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617220" y="3504843"/>
            <a:ext cx="13395960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Air quality and weather conditions have significant impacts on human health, environmental sustainability, and economic activity. The ability to predict these factors accurately is crucial for informed decision-making.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17220" y="6006346"/>
            <a:ext cx="13395960" cy="22860"/>
          </a:xfrm>
          <a:prstGeom prst="roundRect">
            <a:avLst>
              <a:gd name="adj" fmla="val 115722"/>
            </a:avLst>
          </a:prstGeom>
          <a:solidFill>
            <a:srgbClr val="D8D4D4"/>
          </a:solidFill>
          <a:ln/>
        </p:spPr>
      </p:sp>
      <p:sp>
        <p:nvSpPr>
          <p:cNvPr id="7" name="Shape 3"/>
          <p:cNvSpPr/>
          <p:nvPr/>
        </p:nvSpPr>
        <p:spPr>
          <a:xfrm>
            <a:off x="3232071" y="5389126"/>
            <a:ext cx="22860" cy="617220"/>
          </a:xfrm>
          <a:prstGeom prst="roundRect">
            <a:avLst>
              <a:gd name="adj" fmla="val 115722"/>
            </a:avLst>
          </a:prstGeom>
          <a:solidFill>
            <a:srgbClr val="D8D4D4"/>
          </a:solidFill>
          <a:ln/>
        </p:spPr>
      </p:sp>
      <p:sp>
        <p:nvSpPr>
          <p:cNvPr id="8" name="Shape 4"/>
          <p:cNvSpPr/>
          <p:nvPr/>
        </p:nvSpPr>
        <p:spPr>
          <a:xfrm>
            <a:off x="3045143" y="5807988"/>
            <a:ext cx="396716" cy="3967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5"/>
          <p:cNvSpPr/>
          <p:nvPr/>
        </p:nvSpPr>
        <p:spPr>
          <a:xfrm>
            <a:off x="3196233" y="5874067"/>
            <a:ext cx="9453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2141220" y="4267319"/>
            <a:ext cx="220444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93552" y="4648676"/>
            <a:ext cx="4899898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Gathering historical data on air quality, weather parameters, and other relevant factors.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946458" y="6006346"/>
            <a:ext cx="22860" cy="617220"/>
          </a:xfrm>
          <a:prstGeom prst="roundRect">
            <a:avLst>
              <a:gd name="adj" fmla="val 115722"/>
            </a:avLst>
          </a:prstGeom>
          <a:solidFill>
            <a:srgbClr val="D8D4D4"/>
          </a:solidFill>
          <a:ln/>
        </p:spPr>
      </p:sp>
      <p:sp>
        <p:nvSpPr>
          <p:cNvPr id="13" name="Shape 9"/>
          <p:cNvSpPr/>
          <p:nvPr/>
        </p:nvSpPr>
        <p:spPr>
          <a:xfrm>
            <a:off x="5759529" y="5807988"/>
            <a:ext cx="396716" cy="3967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0"/>
          <p:cNvSpPr/>
          <p:nvPr/>
        </p:nvSpPr>
        <p:spPr>
          <a:xfrm>
            <a:off x="5892284" y="5874067"/>
            <a:ext cx="13120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4855607" y="6799898"/>
            <a:ext cx="220444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Preprocessing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07938" y="7181255"/>
            <a:ext cx="4899898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Cleaning, transforming, and preparing the data for machine learning algorithms.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660963" y="5389126"/>
            <a:ext cx="22860" cy="617220"/>
          </a:xfrm>
          <a:prstGeom prst="roundRect">
            <a:avLst>
              <a:gd name="adj" fmla="val 115722"/>
            </a:avLst>
          </a:prstGeom>
          <a:solidFill>
            <a:srgbClr val="D8D4D4"/>
          </a:solidFill>
          <a:ln/>
        </p:spPr>
      </p:sp>
      <p:sp>
        <p:nvSpPr>
          <p:cNvPr id="18" name="Shape 14"/>
          <p:cNvSpPr/>
          <p:nvPr/>
        </p:nvSpPr>
        <p:spPr>
          <a:xfrm>
            <a:off x="8474035" y="5807988"/>
            <a:ext cx="396716" cy="3967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5"/>
          <p:cNvSpPr/>
          <p:nvPr/>
        </p:nvSpPr>
        <p:spPr>
          <a:xfrm>
            <a:off x="8608695" y="5874067"/>
            <a:ext cx="12739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50" dirty="0"/>
          </a:p>
        </p:txBody>
      </p:sp>
      <p:sp>
        <p:nvSpPr>
          <p:cNvPr id="20" name="Text 16"/>
          <p:cNvSpPr/>
          <p:nvPr/>
        </p:nvSpPr>
        <p:spPr>
          <a:xfrm>
            <a:off x="7570113" y="4267319"/>
            <a:ext cx="220444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 Training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222444" y="4648676"/>
            <a:ext cx="4899898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Developing and training machine learning models using the prepared data.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11375350" y="6006346"/>
            <a:ext cx="22860" cy="617220"/>
          </a:xfrm>
          <a:prstGeom prst="roundRect">
            <a:avLst>
              <a:gd name="adj" fmla="val 115722"/>
            </a:avLst>
          </a:prstGeom>
          <a:solidFill>
            <a:srgbClr val="D8D4D4"/>
          </a:solidFill>
          <a:ln/>
        </p:spPr>
      </p:sp>
      <p:sp>
        <p:nvSpPr>
          <p:cNvPr id="23" name="Shape 19"/>
          <p:cNvSpPr/>
          <p:nvPr/>
        </p:nvSpPr>
        <p:spPr>
          <a:xfrm>
            <a:off x="11188422" y="5807988"/>
            <a:ext cx="396716" cy="39671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0"/>
          <p:cNvSpPr/>
          <p:nvPr/>
        </p:nvSpPr>
        <p:spPr>
          <a:xfrm>
            <a:off x="11317010" y="5874067"/>
            <a:ext cx="139541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050" dirty="0"/>
          </a:p>
        </p:txBody>
      </p:sp>
      <p:sp>
        <p:nvSpPr>
          <p:cNvPr id="25" name="Text 21"/>
          <p:cNvSpPr/>
          <p:nvPr/>
        </p:nvSpPr>
        <p:spPr>
          <a:xfrm>
            <a:off x="10284500" y="6799898"/>
            <a:ext cx="220444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Prediction Generation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8936831" y="7181255"/>
            <a:ext cx="4899898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Utilizing the trained model to predict future air quality and weather conditions.</a:t>
            </a:r>
            <a:endParaRPr lang="en-US" sz="1350" dirty="0"/>
          </a:p>
        </p:txBody>
      </p:sp>
      <p:sp>
        <p:nvSpPr>
          <p:cNvPr id="27" name="Rectangle 26"/>
          <p:cNvSpPr/>
          <p:nvPr/>
        </p:nvSpPr>
        <p:spPr>
          <a:xfrm>
            <a:off x="0" y="7745372"/>
            <a:ext cx="14630400" cy="4842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5723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Literature Survey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262128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Extensive research has been conducted on the use of machine learning for air quality and weather prediction. Existing studies explore various machine learning algorithms, data sources, and prediction models.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3965138"/>
            <a:ext cx="7556421" cy="2692003"/>
          </a:xfrm>
          <a:prstGeom prst="roundRect">
            <a:avLst>
              <a:gd name="adj" fmla="val 126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1410" y="3972758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029057" y="4116467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Study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546038" y="4116467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Algorithm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059210" y="4116467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801410" y="4623078"/>
            <a:ext cx="754034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029057" y="4766786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Zhang et al. (2022)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3546038" y="4766786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Long Short-Term Memory (LSTM)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059210" y="4766786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Beijing air quality data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801410" y="5636300"/>
            <a:ext cx="754034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29057" y="578000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Wang et al. (2021)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3546038" y="5780008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Support Vector Regression (SVR)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6059210" y="5780008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Weather data from multiple cities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12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Motivation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737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increasing global concern over air pollution and its impact on public health and the environment motivates this research. Accurate air quality and weather prediction can help mitigate these issues.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81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Improved Public Health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76261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Early warnings of poor air quality can encourage individuals to take precautions and protect their health.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4181475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Enhanced Environmental Management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511694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Predicting air quality trends enables effective policy decisions and interventions to reduce pollution.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872067" y="4181475"/>
            <a:ext cx="3283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Sustainable Urban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4762619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Forecasting weather conditions supports better urban planning, infrastructure development, and resource management.</a:t>
            </a:r>
            <a:endParaRPr lang="en-US" sz="1750" dirty="0"/>
          </a:p>
        </p:txBody>
      </p:sp>
      <p:sp>
        <p:nvSpPr>
          <p:cNvPr id="10" name="Rectangle 9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475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125" y="244673"/>
            <a:ext cx="3100030" cy="19582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324" y="2987635"/>
            <a:ext cx="9359622" cy="611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 </a:t>
            </a:r>
            <a:r>
              <a:rPr lang="en-US" sz="3850" dirty="0" smtClean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Statement</a:t>
            </a:r>
            <a:endParaRPr lang="en-US" sz="3850" dirty="0"/>
          </a:p>
        </p:txBody>
      </p:sp>
      <p:sp>
        <p:nvSpPr>
          <p:cNvPr id="5" name="Text 1"/>
          <p:cNvSpPr/>
          <p:nvPr/>
        </p:nvSpPr>
        <p:spPr>
          <a:xfrm>
            <a:off x="685324" y="3892987"/>
            <a:ext cx="13259753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primary challenge is to develop a robust machine learning model that can accurately predict air quality and weather parameters based on historical data.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24" y="4739997"/>
            <a:ext cx="4419838" cy="78319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1063" y="5816798"/>
            <a:ext cx="244756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Input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881063" y="6240185"/>
            <a:ext cx="4028361" cy="1253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Historical data on air quality parameters (PM2.5, ozone, etc.), meteorological data (temperature, humidity, wind speed), and other relevant factors.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162" y="4739997"/>
            <a:ext cx="4419957" cy="78319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00901" y="5816798"/>
            <a:ext cx="244756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Processing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5300901" y="6240185"/>
            <a:ext cx="4028480" cy="94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 algorithms are employed to analyze the input data and identify patterns and relationships.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119" y="4739997"/>
            <a:ext cx="4419957" cy="78319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20858" y="5816798"/>
            <a:ext cx="244756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Output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9720858" y="6240185"/>
            <a:ext cx="4028480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Predictions for future air quality and weather parameters at a specific location.</a:t>
            </a:r>
            <a:endParaRPr lang="en-US" sz="1500" dirty="0"/>
          </a:p>
        </p:txBody>
      </p:sp>
      <p:sp>
        <p:nvSpPr>
          <p:cNvPr id="15" name="Rectangle 14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2762250"/>
            <a:ext cx="3611880" cy="2705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1633" y="537686"/>
            <a:ext cx="4869537" cy="608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Objectives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681633" y="1438394"/>
            <a:ext cx="7780734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primary objective is to develop a highly accurate and reliable machine learning model for predicting air quality and weather conditions.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33" y="2280642"/>
            <a:ext cx="486847" cy="48684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1633" y="2962156"/>
            <a:ext cx="243470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Accuracy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681633" y="3383280"/>
            <a:ext cx="7780734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Achieve a high level of accuracy in the predictions generated by the model.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33" y="4279106"/>
            <a:ext cx="486847" cy="4868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81633" y="4960620"/>
            <a:ext cx="243470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Real-Time Capability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681633" y="5381744"/>
            <a:ext cx="7780734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Enable the model to provide predictions in real-time, allowing for timely decision-making.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33" y="6277570"/>
            <a:ext cx="486847" cy="4868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81633" y="6959084"/>
            <a:ext cx="2434709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User-Friendliness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681633" y="7380208"/>
            <a:ext cx="7780734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 user-friendly interface for accessing and interpreting the predictions.</a:t>
            </a:r>
            <a:endParaRPr lang="en-US" sz="1500" dirty="0"/>
          </a:p>
        </p:txBody>
      </p:sp>
      <p:sp>
        <p:nvSpPr>
          <p:cNvPr id="15" name="Rectangle 14"/>
          <p:cNvSpPr/>
          <p:nvPr/>
        </p:nvSpPr>
        <p:spPr>
          <a:xfrm>
            <a:off x="0" y="7691794"/>
            <a:ext cx="14630400" cy="537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21" y="283488"/>
            <a:ext cx="3017639" cy="2268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6824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Scope of the Project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47314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project focuses on developing a machine learning model for air quality and weather prediction in a specific urban area.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534947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7" name="Text 3"/>
          <p:cNvSpPr/>
          <p:nvPr/>
        </p:nvSpPr>
        <p:spPr>
          <a:xfrm>
            <a:off x="1020604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Geographic Scope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606671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model will be trained and evaluated using data from a particular city or region.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534947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0" name="Text 6"/>
          <p:cNvSpPr/>
          <p:nvPr/>
        </p:nvSpPr>
        <p:spPr>
          <a:xfrm>
            <a:off x="5443776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43776" y="606671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model will utilize data on air quality, meteorological conditions, and other relevant factors.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5349478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13" name="Text 9"/>
          <p:cNvSpPr/>
          <p:nvPr/>
        </p:nvSpPr>
        <p:spPr>
          <a:xfrm>
            <a:off x="9866948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Prediction Horizon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866948" y="606671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model will generate predictions for a specific time window, such as hourly or daily forecasts.</a:t>
            </a:r>
            <a:endParaRPr lang="en-US" sz="1750" dirty="0"/>
          </a:p>
        </p:txBody>
      </p:sp>
      <p:sp>
        <p:nvSpPr>
          <p:cNvPr id="15" name="Rectangle 14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5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Hardware and Software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82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project requires appropriate hardware and software resources for data storage, processing, and model development.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83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Hardware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642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High-performance computing system with sufficient memory and processing power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693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storage infrastructure for handling large datasets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983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5642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programming language with machine learning libraries (Scikit-learn, TensorFlow, PyTorch)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3693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analysis tools (Pandas, NumPy)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8115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Visualization libraries (Matplotlib, Seaborn)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8319"/>
            <a:ext cx="101369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 </a:t>
            </a: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Architecture and Design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007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architecture combines a machine learning model for prediction and a data acquisition and processing module for real-time updates.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81682"/>
            <a:ext cx="4120753" cy="25467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8119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Cloud Infrastructure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302335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is deployed in a cloud environment for scalability and accessibility.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981682"/>
            <a:ext cx="4120872" cy="2546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4704" y="5812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Sensor Network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54704" y="6302454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network of sensors collects real-time data on air quality and weather parameters.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981682"/>
            <a:ext cx="4120753" cy="2546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5811917"/>
            <a:ext cx="29394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6302335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trained machine learning model processes the data and generates predictions.</a:t>
            </a:r>
            <a:endParaRPr lang="en-US" sz="1750" dirty="0"/>
          </a:p>
        </p:txBody>
      </p:sp>
      <p:sp>
        <p:nvSpPr>
          <p:cNvPr id="13" name="Rectangle 12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42746"/>
            <a:ext cx="14630400" cy="5868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92295" y="658906"/>
            <a:ext cx="4799976" cy="762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4000" dirty="0" smtClean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592294" y="1827057"/>
            <a:ext cx="12007599" cy="3892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"Air Quality Prediction using Machine Learning" by S. K. Singh et al. (2020) - </a:t>
            </a:r>
            <a:r>
              <a:rPr lang="en-US" dirty="0" err="1" smtClean="0"/>
              <a:t>doi</a:t>
            </a:r>
            <a:r>
              <a:rPr lang="en-US" dirty="0" smtClean="0"/>
              <a:t>: 10.1016/j.envpol.2020.114234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"Weather Forecasting using Deep Learning" by R. K. Singh et al. (2019) - </a:t>
            </a:r>
            <a:r>
              <a:rPr lang="en-US" dirty="0" err="1" smtClean="0"/>
              <a:t>doi</a:t>
            </a:r>
            <a:r>
              <a:rPr lang="en-US" dirty="0" smtClean="0"/>
              <a:t>: 10.1007/s00521-019-04143-6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"Predicting Air Quality Index using LSTM and Gradient Boosting" by Y. Zhang et al. (2019) - </a:t>
            </a:r>
            <a:r>
              <a:rPr lang="en-US" dirty="0" err="1" smtClean="0"/>
              <a:t>doi</a:t>
            </a:r>
            <a:r>
              <a:rPr lang="en-US" dirty="0" smtClean="0"/>
              <a:t>: 10.1109/ACCESS.2019.2916142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"Machine Learning for Weather Prediction: A Review" by A. K. Singh et al. (2020) - </a:t>
            </a:r>
            <a:r>
              <a:rPr lang="en-US" dirty="0" err="1" smtClean="0"/>
              <a:t>doi</a:t>
            </a:r>
            <a:r>
              <a:rPr lang="en-US" dirty="0" smtClean="0"/>
              <a:t>: 10.1007/s10489-020-01861-6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 smtClean="0"/>
              <a:t>"Air Quality Prediction using Random Forest and Support Vector Machine" by J. Liu et al. (2018) - </a:t>
            </a:r>
            <a:r>
              <a:rPr lang="en-US" dirty="0" err="1" smtClean="0"/>
              <a:t>doi</a:t>
            </a:r>
            <a:r>
              <a:rPr lang="en-US" dirty="0" smtClean="0"/>
              <a:t>: 10.1016/j.atmosenv.2018.02.045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964</Words>
  <Application>Microsoft Office PowerPoint</Application>
  <PresentationFormat>Custom</PresentationFormat>
  <Paragraphs>121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Cambria Math</vt:lpstr>
      <vt:lpstr>Times New Roman</vt:lpstr>
      <vt:lpstr>Calibri Light</vt:lpstr>
      <vt:lpstr>Libre Baskerville</vt:lpstr>
      <vt:lpstr>Calibri</vt:lpstr>
      <vt:lpstr>Crimson Pro Semi Bold</vt:lpstr>
      <vt:lpstr>Heebo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HELLO</cp:lastModifiedBy>
  <cp:revision>5</cp:revision>
  <dcterms:created xsi:type="dcterms:W3CDTF">2024-10-27T13:24:15Z</dcterms:created>
  <dcterms:modified xsi:type="dcterms:W3CDTF">2024-10-27T14:03:30Z</dcterms:modified>
</cp:coreProperties>
</file>